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" y="1280160"/>
            <a:ext cx="320040" cy="320040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20116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>
                <a:solidFill>
                  <a:srgbClr val="FFFFFF"/>
                </a:solidFill>
                <a:latin typeface="Georgia"/>
              </a:rPr>
              <a:t>Werkplaats 2 — Eindpresentatie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840480"/>
            <a:ext cx="10515600" cy="1371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CADCFC"/>
                </a:solidFill>
                <a:latin typeface="Calibri"/>
              </a:rPr>
              <a:t>Groep 3  ·  Data-analyse van een beleggingsportfolio en macro-economische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1E2761"/>
                </a:solidFill>
                <a:latin typeface="Georgia"/>
              </a:rPr>
              <a:t>Onze data &amp; aanpak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3891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21295C"/>
                </a:solidFill>
                <a:latin typeface="Calibri"/>
              </a:rPr>
              <a:t>We hebben 20 producten en indicatoren verzameld over de periode dec 2015 – mei 2026.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21295C"/>
                </a:solidFill>
                <a:latin typeface="Calibri"/>
              </a:rPr>
              <a:t>•  Aandelen, crypto en obligaties via Yahoo Finance (o.a. Apple, ASML, Broadcom, Shell, Bitcoin).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21295C"/>
                </a:solidFill>
                <a:latin typeface="Calibri"/>
              </a:rPr>
              <a:t>•  Grondstoffen via Yahoo Finance en FRED (goud, olie, koper, graan, koffie, gas).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21295C"/>
                </a:solidFill>
                <a:latin typeface="Calibri"/>
              </a:rPr>
              <a:t>•  Macro-economische indicatoren via de FED St. Louis (GDP, inkomen, inflatie, rente, werkloosheid).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21295C"/>
                </a:solidFill>
                <a:latin typeface="Calibri"/>
              </a:rPr>
              <a:t>Op deze data passen we regressie, tijdreeksanalyse, sentimentanalyse, machine learning en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21295C"/>
                </a:solidFill>
                <a:latin typeface="Calibri"/>
              </a:rPr>
              <a:t>portfolio-optimalisatie toe om verbanden te onderzoeken en een optimale portefeuille samen te stellen.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640080"/>
            <a:ext cx="256032" cy="256032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301752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2C39A"/>
                </a:solidFill>
                <a:latin typeface="Calibri"/>
              </a:rPr>
              <a:t>Onderzoeksvraag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3108960" cy="43891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CADCFC"/>
                </a:solidFill>
                <a:latin typeface="Calibri"/>
              </a:rPr>
              <a:t>Stappen vooraf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1.  Relevante data geselecteerd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2.  Correlatie-heatmap gemaakt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3.  Bubble chart (GDP × Income × Coffee)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4.  Meervoudige regressie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822960"/>
            <a:ext cx="7223760" cy="1463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2C39A"/>
                </a:solidFill>
                <a:latin typeface="Calibri"/>
              </a:rPr>
              <a:t>Vraag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21295C"/>
                </a:solidFill>
                <a:latin typeface="Calibri"/>
              </a:rPr>
              <a:t>Wat is het verband tussen GDP, persoonlijk inkomen en de koffieprijs?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651760"/>
            <a:ext cx="722376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2C39A"/>
                </a:solidFill>
                <a:latin typeface="Calibri"/>
              </a:rPr>
              <a:t>Resultaat regressie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GDP +0,0160  ·  Income −0,0064  ·  R² = 0,80  (p &lt; 0,05)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3931920"/>
            <a:ext cx="722376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02C39A"/>
                </a:solidFill>
                <a:latin typeface="Calibri"/>
              </a:rPr>
              <a:t>Conclusie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4434840"/>
            <a:ext cx="7223760" cy="20116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Significant en matige correlatie.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Door onderlinge samenhang van de X-variabelen is geen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zuivere oorzaak-gevolg-conclusie te trekken.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640080"/>
            <a:ext cx="256032" cy="256032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301752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2C39A"/>
                </a:solidFill>
                <a:latin typeface="Calibri"/>
              </a:rPr>
              <a:t>Onderzoeksvraag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3108960" cy="43891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CADCFC"/>
                </a:solidFill>
                <a:latin typeface="Calibri"/>
              </a:rPr>
              <a:t>Stappen vooraf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1.  Data geselecteerd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2.  Heatmap bekeken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3.  Bubble chart (Broadcom × Coffee)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4.  Enkelvoudige regressie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822960"/>
            <a:ext cx="7223760" cy="1463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2C39A"/>
                </a:solidFill>
                <a:latin typeface="Calibri"/>
              </a:rPr>
              <a:t>Vraag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21295C"/>
                </a:solidFill>
                <a:latin typeface="Calibri"/>
              </a:rPr>
              <a:t>Wat is het verband van Broadcom op de koffieprijs?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651760"/>
            <a:ext cx="722376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2C39A"/>
                </a:solidFill>
                <a:latin typeface="Calibri"/>
              </a:rPr>
              <a:t>Resultaat regressie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Broadcom +0,5205  ·  R² = 0,94  (p &lt; 0,05)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3931920"/>
            <a:ext cx="722376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02C39A"/>
                </a:solidFill>
                <a:latin typeface="Calibri"/>
              </a:rPr>
              <a:t>Conclusie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4434840"/>
            <a:ext cx="7223760" cy="20116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Statistisch sterk verband, maar inhoudelijk niet logisch.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Waarschijnlijk schijncorrelatie: beide stijgen over de tijd.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Geen betekenisvolle conclusie.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640080"/>
            <a:ext cx="256032" cy="256032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301752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2C39A"/>
                </a:solidFill>
                <a:latin typeface="Calibri"/>
              </a:rPr>
              <a:t>Onderzoeksvraag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3108960" cy="43891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CADCFC"/>
                </a:solidFill>
                <a:latin typeface="Calibri"/>
              </a:rPr>
              <a:t>Stappen vooraf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1.  Data geselecteerd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2.  Heatmap bekeken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3.  Bubble chart (Copper × ASML)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4.  Enkelvoudige regressie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822960"/>
            <a:ext cx="7223760" cy="1463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2C39A"/>
                </a:solidFill>
                <a:latin typeface="Calibri"/>
              </a:rPr>
              <a:t>Vraag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21295C"/>
                </a:solidFill>
                <a:latin typeface="Calibri"/>
              </a:rPr>
              <a:t>Hoeveel invloed heeft de koperprijs op de koers van ASML?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651760"/>
            <a:ext cx="722376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2C39A"/>
                </a:solidFill>
                <a:latin typeface="Calibri"/>
              </a:rPr>
              <a:t>Resultaat regressie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Copper +0,1560  ·  R² = 0,87  (p &lt; 0,05)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3931920"/>
            <a:ext cx="722376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02C39A"/>
                </a:solidFill>
                <a:latin typeface="Calibri"/>
              </a:rPr>
              <a:t>Conclusie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4434840"/>
            <a:ext cx="7223760" cy="20116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Significant en sterke correlatie.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Logisch: meer vraag naar chips → ASML stijgt,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en chips gebruiken veel koper → koperprijs stijgt mee.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640080"/>
            <a:ext cx="256032" cy="256032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301752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2C39A"/>
                </a:solidFill>
                <a:latin typeface="Calibri"/>
              </a:rPr>
              <a:t>Onderzoeksvraag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3108960" cy="43891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CADCFC"/>
                </a:solidFill>
                <a:latin typeface="Calibri"/>
              </a:rPr>
              <a:t>Stappen vooraf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1.  Data geselecteerd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2.  Heatmap bekeken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3.  Bubble chart (Gasoline × Oil × Shell)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4.  Meervoudige regressie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822960"/>
            <a:ext cx="7223760" cy="1463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2C39A"/>
                </a:solidFill>
                <a:latin typeface="Calibri"/>
              </a:rPr>
              <a:t>Vraag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21295C"/>
                </a:solidFill>
                <a:latin typeface="Calibri"/>
              </a:rPr>
              <a:t>Waarom lijkt er minder verband tussen benzine, olie en de koers van Shell?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651760"/>
            <a:ext cx="722376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2C39A"/>
                </a:solidFill>
                <a:latin typeface="Calibri"/>
              </a:rPr>
              <a:t>Resultaat regressie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Gasoline +11,6507  ·  Oil +0,0891  ·  R² = 0,36  (p &lt; 0,05)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3931920"/>
            <a:ext cx="722376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02C39A"/>
                </a:solidFill>
                <a:latin typeface="Calibri"/>
              </a:rPr>
              <a:t>Conclusie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4434840"/>
            <a:ext cx="7223760" cy="20116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Significant maar slechts matige correlatie.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Shell reageert niet op de actuele, maar op de verwachte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langetermijnprijs → onderzocht met timeshift.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640080"/>
            <a:ext cx="256032" cy="256032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301752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2C39A"/>
                </a:solidFill>
                <a:latin typeface="Calibri"/>
              </a:rPr>
              <a:t>Onderzoeksvraag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3108960" cy="43891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CADCFC"/>
                </a:solidFill>
                <a:latin typeface="Calibri"/>
              </a:rPr>
              <a:t>Stappen vooraf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1.  Data geselecteerd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2.  Heatmap bekeken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3.  Bubble chart (4 variabelen)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4.  Regressie + neuraal netwerk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822960"/>
            <a:ext cx="7223760" cy="1463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2C39A"/>
                </a:solidFill>
                <a:latin typeface="Calibri"/>
              </a:rPr>
              <a:t>Vraag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21295C"/>
                </a:solidFill>
                <a:latin typeface="Calibri"/>
              </a:rPr>
              <a:t>Wat is het verband tussen koffie, koper, goud en de koers van Apple?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651760"/>
            <a:ext cx="722376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2C39A"/>
                </a:solidFill>
                <a:latin typeface="Calibri"/>
              </a:rPr>
              <a:t>Resultaat regressie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Coffee +0,7351  ·  Copper +0,0236  ·  Gold −0,0097  ·  R² = 0,88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3931920"/>
            <a:ext cx="722376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02C39A"/>
                </a:solidFill>
                <a:latin typeface="Calibri"/>
              </a:rPr>
              <a:t>Conclusie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4434840"/>
            <a:ext cx="7223760" cy="20116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Significant en sterke correlatie.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Hoogconjunctuur drijft Apple en koper omhoog;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goud reageert juist zwakker (veilige haven).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1E2761"/>
                </a:solidFill>
                <a:latin typeface="Georgia"/>
              </a:rPr>
              <a:t>Twee beleggersprofielen — maximale Sharpe-ratio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54480"/>
            <a:ext cx="5303520" cy="6400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27632"/>
            <a:ext cx="530352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Calibri"/>
              </a:rPr>
              <a:t>Jonge student (dynamisch)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377440"/>
            <a:ext cx="5120640" cy="3108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21295C"/>
                </a:solidFill>
                <a:latin typeface="Consolas"/>
              </a:rPr>
              <a:t>Broadcom        37,5%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21295C"/>
                </a:solidFill>
                <a:latin typeface="Consolas"/>
              </a:rPr>
              <a:t>Bitcoin         23,5%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21295C"/>
                </a:solidFill>
                <a:latin typeface="Consolas"/>
              </a:rPr>
              <a:t>Apple           36,0%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21295C"/>
                </a:solidFill>
                <a:latin typeface="Consolas"/>
              </a:rPr>
              <a:t>ASML            3,0%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69280"/>
            <a:ext cx="530352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02C39A"/>
                </a:solidFill>
                <a:latin typeface="Calibri"/>
              </a:rPr>
              <a:t>Rendement 24%  ·  risico 25%  ·  Sharpe 0,85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0" y="1554480"/>
            <a:ext cx="5303520" cy="6400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627632"/>
            <a:ext cx="530352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Calibri"/>
              </a:rPr>
              <a:t>Oude docent (defensief)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377440"/>
            <a:ext cx="5120640" cy="3108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21295C"/>
                </a:solidFill>
                <a:latin typeface="Consolas"/>
              </a:rPr>
              <a:t>Goud            59,5%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21295C"/>
                </a:solidFill>
                <a:latin typeface="Consolas"/>
              </a:rPr>
              <a:t>Apple           40,5%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21295C"/>
                </a:solidFill>
                <a:latin typeface="Consolas"/>
              </a:rPr>
              <a:t>Zilver          0%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21295C"/>
                </a:solidFill>
                <a:latin typeface="Consolas"/>
              </a:rPr>
              <a:t>Shell           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5669280"/>
            <a:ext cx="530352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02C39A"/>
                </a:solidFill>
                <a:latin typeface="Calibri"/>
              </a:rPr>
              <a:t>Rendement 13%  ·  risico 13%  ·  Sharpe 0,78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E2761"/>
                </a:solidFill>
                <a:latin typeface="Georgia"/>
              </a:rPr>
              <a:t>Marktportfolio — hoogste Sharpe-ratio (alle 20 variabelen)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512064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2C39A"/>
                </a:solidFill>
                <a:latin typeface="Calibri"/>
              </a:rPr>
              <a:t>Belangrijkste gewichten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5120640" cy="34747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21295C"/>
                </a:solidFill>
                <a:latin typeface="Consolas"/>
              </a:rPr>
              <a:t>Coffee        37,0%</a:t>
            </a:r>
          </a:p>
          <a:p>
            <a:pPr algn="l">
              <a:lnSpc>
                <a:spcPct val="130000"/>
              </a:lnSpc>
            </a:pPr>
            <a:r>
              <a:rPr sz="1600" b="0">
                <a:solidFill>
                  <a:srgbClr val="21295C"/>
                </a:solidFill>
                <a:latin typeface="Consolas"/>
              </a:rPr>
              <a:t>Goud          19,2%</a:t>
            </a:r>
          </a:p>
          <a:p>
            <a:pPr algn="l">
              <a:lnSpc>
                <a:spcPct val="130000"/>
              </a:lnSpc>
            </a:pPr>
            <a:r>
              <a:rPr sz="1600" b="0">
                <a:solidFill>
                  <a:srgbClr val="21295C"/>
                </a:solidFill>
                <a:latin typeface="Consolas"/>
              </a:rPr>
              <a:t>Gasoline      10,5%</a:t>
            </a:r>
          </a:p>
          <a:p>
            <a:pPr algn="l">
              <a:lnSpc>
                <a:spcPct val="130000"/>
              </a:lnSpc>
            </a:pPr>
            <a:r>
              <a:rPr sz="1600" b="0">
                <a:solidFill>
                  <a:srgbClr val="21295C"/>
                </a:solidFill>
                <a:latin typeface="Consolas"/>
              </a:rPr>
              <a:t>Copper        9,3%</a:t>
            </a:r>
          </a:p>
          <a:p>
            <a:pPr algn="l">
              <a:lnSpc>
                <a:spcPct val="130000"/>
              </a:lnSpc>
            </a:pPr>
            <a:r>
              <a:rPr sz="1600" b="0">
                <a:solidFill>
                  <a:srgbClr val="21295C"/>
                </a:solidFill>
                <a:latin typeface="Consolas"/>
              </a:rPr>
              <a:t>Broadcom      6,8%</a:t>
            </a:r>
          </a:p>
          <a:p>
            <a:pPr algn="l">
              <a:lnSpc>
                <a:spcPct val="130000"/>
              </a:lnSpc>
            </a:pPr>
            <a:r>
              <a:rPr sz="1600" b="0">
                <a:solidFill>
                  <a:srgbClr val="21295C"/>
                </a:solidFill>
                <a:latin typeface="Consolas"/>
              </a:rPr>
              <a:t>Apple         6,7%</a:t>
            </a:r>
          </a:p>
          <a:p>
            <a:pPr algn="l">
              <a:lnSpc>
                <a:spcPct val="130000"/>
              </a:lnSpc>
            </a:pPr>
            <a:r>
              <a:rPr sz="1600" b="0">
                <a:solidFill>
                  <a:srgbClr val="21295C"/>
                </a:solidFill>
                <a:latin typeface="Consolas"/>
              </a:rPr>
              <a:t>Steel         5,0%</a:t>
            </a:r>
          </a:p>
          <a:p>
            <a:pPr algn="l">
              <a:lnSpc>
                <a:spcPct val="130000"/>
              </a:lnSpc>
            </a:pPr>
            <a:r>
              <a:rPr sz="1600" b="0">
                <a:solidFill>
                  <a:srgbClr val="21295C"/>
                </a:solidFill>
                <a:latin typeface="Consolas"/>
              </a:rPr>
              <a:t>Bitcoin       4,0%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2194560"/>
            <a:ext cx="4937760" cy="237744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2468880"/>
            <a:ext cx="4480560" cy="20116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2C39A"/>
                </a:solidFill>
                <a:latin typeface="Calibri"/>
              </a:rPr>
              <a:t>Resultaat</a:t>
            </a:r>
          </a:p>
          <a:p>
            <a:pPr algn="l">
              <a:lnSpc>
                <a:spcPct val="130000"/>
              </a:lnSpc>
            </a:pPr>
            <a:r>
              <a:rPr sz="1800" b="0">
                <a:solidFill>
                  <a:srgbClr val="FFFFFF"/>
                </a:solidFill>
                <a:latin typeface="Calibri"/>
              </a:rPr>
              <a:t>Rendement:  9,1%</a:t>
            </a:r>
          </a:p>
          <a:p>
            <a:pPr algn="l">
              <a:lnSpc>
                <a:spcPct val="130000"/>
              </a:lnSpc>
            </a:pPr>
            <a:r>
              <a:rPr sz="1800" b="0">
                <a:solidFill>
                  <a:srgbClr val="FFFFFF"/>
                </a:solidFill>
                <a:latin typeface="Calibri"/>
              </a:rPr>
              <a:t>Risico (std):  6,0%</a:t>
            </a:r>
          </a:p>
          <a:p>
            <a:pPr algn="l">
              <a:lnSpc>
                <a:spcPct val="130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Sharpe-ratio:  1,10</a:t>
            </a:r>
          </a:p>
          <a:p>
            <a:pPr algn="l">
              <a:lnSpc>
                <a:spcPct val="130000"/>
              </a:lnSpc>
            </a:pPr>
            <a:r>
              <a:rPr sz="8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CADCFC"/>
                </a:solidFill>
                <a:latin typeface="Calibri"/>
              </a:rPr>
              <a:t>Macro-indicatoren krijgen ~0%: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CADCFC"/>
                </a:solidFill>
                <a:latin typeface="Calibri"/>
              </a:rPr>
              <a:t>ze voegen geen rendement per risico toe.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" y="822960"/>
            <a:ext cx="274320" cy="274320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1560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FFFFFF"/>
                </a:solidFill>
                <a:latin typeface="Georgia"/>
              </a:rPr>
              <a:t>Eindconclusie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60320"/>
            <a:ext cx="10607040" cy="3657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>
                <a:solidFill>
                  <a:srgbClr val="CADCFC"/>
                </a:solidFill>
                <a:latin typeface="Calibri"/>
              </a:rPr>
              <a:t>Door regressie, tijdreeks- en sentimentanalyse vonden we duidelijke, vaak significante</a:t>
            </a:r>
          </a:p>
          <a:p>
            <a:pPr algn="l">
              <a:lnSpc>
                <a:spcPct val="145000"/>
              </a:lnSpc>
            </a:pPr>
            <a:r>
              <a:rPr sz="1800" b="0">
                <a:solidFill>
                  <a:srgbClr val="CADCFC"/>
                </a:solidFill>
                <a:latin typeface="Calibri"/>
              </a:rPr>
              <a:t>verbanden tussen macro-economische factoren en de koersen in onze portfolio.</a:t>
            </a:r>
          </a:p>
          <a:p>
            <a:pPr algn="l">
              <a:lnSpc>
                <a:spcPct val="145000"/>
              </a:lnSpc>
            </a:pPr>
            <a:r>
              <a:rPr sz="1800" b="0">
                <a:solidFill>
                  <a:srgbClr val="CADCFC"/>
                </a:solidFill>
                <a:latin typeface="Calibri"/>
              </a:rPr>
              <a:t>Het neurale netwerk voorspelt de Apple-koers sterk (R² ≈ 0,98), terwijl nieuws-sentiment</a:t>
            </a:r>
          </a:p>
          <a:p>
            <a:pPr algn="l">
              <a:lnSpc>
                <a:spcPct val="145000"/>
              </a:lnSpc>
            </a:pPr>
            <a:r>
              <a:rPr sz="1800" b="0">
                <a:solidFill>
                  <a:srgbClr val="CADCFC"/>
                </a:solidFill>
                <a:latin typeface="Calibri"/>
              </a:rPr>
              <a:t>géén significant koerseffect liet zien.</a:t>
            </a:r>
          </a:p>
          <a:p>
            <a:pPr algn="l">
              <a:lnSpc>
                <a:spcPct val="145000"/>
              </a:lnSpc>
            </a:pPr>
            <a:r>
              <a:rPr sz="1800" b="0">
                <a:solidFill>
                  <a:srgbClr val="CADCFC"/>
                </a:solidFill>
                <a:latin typeface="Calibri"/>
              </a:rPr>
              <a:t>Tot slot leverde de Markowitz-optimalisatie een portefeuille met de hoogste Sharpe-ratio:</a:t>
            </a:r>
          </a:p>
          <a:p>
            <a:pPr algn="l">
              <a:lnSpc>
                <a:spcPct val="145000"/>
              </a:lnSpc>
            </a:pPr>
            <a:r>
              <a:rPr sz="1800" b="0">
                <a:solidFill>
                  <a:srgbClr val="CADCFC"/>
                </a:solidFill>
                <a:latin typeface="Calibri"/>
              </a:rPr>
              <a:t>het beste rendement per eenheid risico binnen onze dataset.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