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1280160"/>
            <a:ext cx="320040" cy="3200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Georgia"/>
              </a:rPr>
              <a:t>Werkplaats 2 — Eindpresentatie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000" b="0">
                <a:solidFill>
                  <a:srgbClr val="CADCFC"/>
                </a:solidFill>
                <a:latin typeface="Calibri"/>
              </a:rPr>
              <a:t>Groep 3  ·  Data-analyse van een beleggingsportfolio en macro-economische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400" b="1">
                <a:solidFill>
                  <a:srgbClr val="1E2761"/>
                </a:solidFill>
                <a:latin typeface="Georgia"/>
              </a:rPr>
              <a:t>Onze data &amp; aanpak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194560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800" b="0">
                <a:solidFill>
                  <a:srgbClr val="21295C"/>
                </a:solidFill>
                <a:latin typeface="Calibri"/>
              </a:rPr>
              <a:t>We verzamelden 20 producten en indicatoren over de periode dec 2015 – mei 2026.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•  Aandelen, crypto en obligaties via Yahoo Finance (Apple, ASML, Broadcom, Shell, Bitcoin).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•  Grondstoffen via Yahoo Finance en FRED (goud, olie, koper, graan, koffie, gas).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•  Macro-economische indicatoren via de FED St. Louis (GDP, inkomen, inflatie, rente, werkloosheid).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Hierop pasten we regressie, tijdreeksanalyse, sentimentanalyse, machine learning en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portfolio-optimalisatie toe om verbanden te onderzoeken en een optimale portefeuille samen te stellen.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640080"/>
            <a:ext cx="256032" cy="256032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000" b="1">
                <a:solidFill>
                  <a:srgbClr val="02C39A"/>
                </a:solidFill>
                <a:latin typeface="Calibri"/>
              </a:rPr>
              <a:t>Onderzoeksvraag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3108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500" b="1">
                <a:solidFill>
                  <a:srgbClr val="CADCFC"/>
                </a:solidFill>
                <a:latin typeface="Calibri"/>
              </a:rPr>
              <a:t>Stappen vooraf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1.  Relevante data geselecteerd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2.  Correlatie-heatmap gemaakt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3.  Bubble chart (GDP x Income x Coffee)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4.  Meervoudige regressie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914400"/>
            <a:ext cx="7132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2C39A"/>
                </a:solidFill>
                <a:latin typeface="Calibri"/>
              </a:rPr>
              <a:t>VRAAG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900" b="0">
                <a:solidFill>
                  <a:srgbClr val="21295C"/>
                </a:solidFill>
                <a:latin typeface="Calibri"/>
              </a:rPr>
              <a:t>Wat is het verband tussen GDP, persoonlijk inkomen en de koffieprijs?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651760"/>
            <a:ext cx="7132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2C39A"/>
                </a:solidFill>
                <a:latin typeface="Calibri"/>
              </a:rPr>
              <a:t>RESULTAAT REGRESSIE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GDP +0,0160   ·   Income -0,0064   ·   R² = 0,80   (p &lt; 0,05)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931920"/>
            <a:ext cx="7132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02C39A"/>
                </a:solidFill>
                <a:latin typeface="Calibri"/>
              </a:rPr>
              <a:t>CONCLUSIE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Significant en matige correlatie.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Door onderlinge samenhang van de X-variabelen is geen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zuivere oorzaak-gevolg-conclusie te trekken.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640080"/>
            <a:ext cx="256032" cy="256032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000" b="1">
                <a:solidFill>
                  <a:srgbClr val="02C39A"/>
                </a:solidFill>
                <a:latin typeface="Calibri"/>
              </a:rPr>
              <a:t>Onderzoeksvraag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3108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500" b="1">
                <a:solidFill>
                  <a:srgbClr val="CADCFC"/>
                </a:solidFill>
                <a:latin typeface="Calibri"/>
              </a:rPr>
              <a:t>Stappen vooraf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1.  Data geselecteerd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2.  Heatmap bekeken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3.  Bubble chart (Broadcom x Coffee)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4.  Enkelvoudige regressie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914400"/>
            <a:ext cx="7132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2C39A"/>
                </a:solidFill>
                <a:latin typeface="Calibri"/>
              </a:rPr>
              <a:t>VRAAG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900" b="0">
                <a:solidFill>
                  <a:srgbClr val="21295C"/>
                </a:solidFill>
                <a:latin typeface="Calibri"/>
              </a:rPr>
              <a:t>Wat is het verband van Broadcom op de koffieprijs?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651760"/>
            <a:ext cx="7132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2C39A"/>
                </a:solidFill>
                <a:latin typeface="Calibri"/>
              </a:rPr>
              <a:t>RESULTAAT REGRESSIE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Broadcom +0,5205   ·   R² = 0,94   (p &lt; 0,05)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931920"/>
            <a:ext cx="7132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02C39A"/>
                </a:solidFill>
                <a:latin typeface="Calibri"/>
              </a:rPr>
              <a:t>CONCLUSIE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Statistisch sterk verband, maar inhoudelijk niet logisch.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Waarschijnlijk schijncorrelatie: beide stijgen over de tijd.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Geen betekenisvolle conclusie.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640080"/>
            <a:ext cx="256032" cy="256032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000" b="1">
                <a:solidFill>
                  <a:srgbClr val="02C39A"/>
                </a:solidFill>
                <a:latin typeface="Calibri"/>
              </a:rPr>
              <a:t>Onderzoeksvraag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3108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500" b="1">
                <a:solidFill>
                  <a:srgbClr val="CADCFC"/>
                </a:solidFill>
                <a:latin typeface="Calibri"/>
              </a:rPr>
              <a:t>Stappen vooraf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1.  Data geselecteerd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2.  Heatmap bekeken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3.  Bubble chart (Copper x ASML)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4.  Enkelvoudige regressie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914400"/>
            <a:ext cx="7132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2C39A"/>
                </a:solidFill>
                <a:latin typeface="Calibri"/>
              </a:rPr>
              <a:t>VRAAG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900" b="0">
                <a:solidFill>
                  <a:srgbClr val="21295C"/>
                </a:solidFill>
                <a:latin typeface="Calibri"/>
              </a:rPr>
              <a:t>Hoeveel invloed heeft de koperprijs op de koers van ASML?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651760"/>
            <a:ext cx="7132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2C39A"/>
                </a:solidFill>
                <a:latin typeface="Calibri"/>
              </a:rPr>
              <a:t>RESULTAAT REGRESSIE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Copper +0,1560   ·   R² = 0,87   (p &lt; 0,05)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931920"/>
            <a:ext cx="7132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02C39A"/>
                </a:solidFill>
                <a:latin typeface="Calibri"/>
              </a:rPr>
              <a:t>CONCLUSIE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Significant en sterke correlatie.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Logisch: meer vraag naar chips -&gt; ASML stijgt,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en chips gebruiken veel koper -&gt; koperprijs stijgt mee.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640080"/>
            <a:ext cx="256032" cy="256032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000" b="1">
                <a:solidFill>
                  <a:srgbClr val="02C39A"/>
                </a:solidFill>
                <a:latin typeface="Calibri"/>
              </a:rPr>
              <a:t>Onderzoeksvraag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3108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500" b="1">
                <a:solidFill>
                  <a:srgbClr val="CADCFC"/>
                </a:solidFill>
                <a:latin typeface="Calibri"/>
              </a:rPr>
              <a:t>Stappen vooraf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1.  Data geselecteerd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2.  Heatmap bekeken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3.  Bubble chart (Gasoline x Oil x Shell)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4.  Meervoudige regressie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914400"/>
            <a:ext cx="7132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2C39A"/>
                </a:solidFill>
                <a:latin typeface="Calibri"/>
              </a:rPr>
              <a:t>VRAAG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900" b="0">
                <a:solidFill>
                  <a:srgbClr val="21295C"/>
                </a:solidFill>
                <a:latin typeface="Calibri"/>
              </a:rPr>
              <a:t>Waarom lijkt er minder verband tussen benzine, olie en de koers van Shell?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651760"/>
            <a:ext cx="7132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2C39A"/>
                </a:solidFill>
                <a:latin typeface="Calibri"/>
              </a:rPr>
              <a:t>RESULTAAT REGRESSIE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Gasoline +11,6507   ·   Oil +0,0891   ·   R² = 0,36   (p &lt; 0,05)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931920"/>
            <a:ext cx="7132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02C39A"/>
                </a:solidFill>
                <a:latin typeface="Calibri"/>
              </a:rPr>
              <a:t>CONCLUSIE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Significant maar slechts matige correlatie.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Shell reageert niet op de actuele, maar op de verwachte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langetermijnprijs -&gt; onderzocht met timeshift.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640080"/>
            <a:ext cx="256032" cy="256032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000" b="1">
                <a:solidFill>
                  <a:srgbClr val="02C39A"/>
                </a:solidFill>
                <a:latin typeface="Calibri"/>
              </a:rPr>
              <a:t>Onderzoeksvraag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3108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500" b="1">
                <a:solidFill>
                  <a:srgbClr val="CADCFC"/>
                </a:solidFill>
                <a:latin typeface="Calibri"/>
              </a:rPr>
              <a:t>Stappen vooraf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1.  Data geselecteerd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2.  Heatmap bekeken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3.  Bubble chart (4 variabelen)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4.  Regressie + neuraal netwerk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914400"/>
            <a:ext cx="7132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2C39A"/>
                </a:solidFill>
                <a:latin typeface="Calibri"/>
              </a:rPr>
              <a:t>VRAAG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900" b="0">
                <a:solidFill>
                  <a:srgbClr val="21295C"/>
                </a:solidFill>
                <a:latin typeface="Calibri"/>
              </a:rPr>
              <a:t>Wat is het verband tussen koffie, koper, goud en de koers van Apple?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651760"/>
            <a:ext cx="7132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02C39A"/>
                </a:solidFill>
                <a:latin typeface="Calibri"/>
              </a:rPr>
              <a:t>RESULTAAT REGRESSIE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Coffee +0,7351  ·  Copper +0,0236  ·  Gold -0,0097  ·  R² = 0,88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931920"/>
            <a:ext cx="7132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02C39A"/>
                </a:solidFill>
                <a:latin typeface="Calibri"/>
              </a:rPr>
              <a:t>CONCLUSIE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Significant en sterke correlatie.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Hoogconjunctuur drijft Apple en koper omhoog;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>
                <a:solidFill>
                  <a:srgbClr val="21295C"/>
                </a:solidFill>
                <a:latin typeface="Calibri"/>
              </a:rPr>
              <a:t>goud reageert juist zwakker (veilige haven).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200" b="1">
                <a:solidFill>
                  <a:srgbClr val="1E2761"/>
                </a:solidFill>
                <a:latin typeface="Georgia"/>
              </a:rPr>
              <a:t>Twee beleggersprofielen (max. Sharpe-ratio)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194560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212080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212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Jonge student (dynamisch)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606040"/>
          <a:ext cx="521207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1489"/>
                <a:gridCol w="198059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Gewicht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95C"/>
                          </a:solidFill>
                          <a:latin typeface="Calibri"/>
                        </a:rPr>
                        <a:t>Broadcom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1295C"/>
                          </a:solidFill>
                          <a:latin typeface="Calibri"/>
                        </a:rPr>
                        <a:t>37,5%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95C"/>
                          </a:solidFill>
                          <a:latin typeface="Calibri"/>
                        </a:rPr>
                        <a:t>Bitcoin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1295C"/>
                          </a:solidFill>
                          <a:latin typeface="Calibri"/>
                        </a:rPr>
                        <a:t>23,5%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95C"/>
                          </a:solidFill>
                          <a:latin typeface="Calibri"/>
                        </a:rPr>
                        <a:t>Apple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1295C"/>
                          </a:solidFill>
                          <a:latin typeface="Calibri"/>
                        </a:rPr>
                        <a:t>36,0%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95C"/>
                          </a:solidFill>
                          <a:latin typeface="Calibri"/>
                        </a:rPr>
                        <a:t>ASML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1295C"/>
                          </a:solidFill>
                          <a:latin typeface="Calibri"/>
                        </a:rPr>
                        <a:t>3,0%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4754880"/>
            <a:ext cx="5212080" cy="548640"/>
          </a:xfrm>
          <a:prstGeom prst="rect">
            <a:avLst/>
          </a:prstGeom>
          <a:solidFill>
            <a:srgbClr val="EF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5212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21295C"/>
                </a:solidFill>
                <a:latin typeface="Calibri"/>
              </a:rPr>
              <a:t>Rendement 24%   ·   risico 25%   ·   Sharpe 0,85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1783080"/>
            <a:ext cx="5212080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5212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Oude docent (defensief)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629400" y="2606040"/>
          <a:ext cx="521207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1489"/>
                <a:gridCol w="198059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Gewicht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95C"/>
                          </a:solidFill>
                          <a:latin typeface="Calibri"/>
                        </a:rPr>
                        <a:t>Goud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1295C"/>
                          </a:solidFill>
                          <a:latin typeface="Calibri"/>
                        </a:rPr>
                        <a:t>59,5%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95C"/>
                          </a:solidFill>
                          <a:latin typeface="Calibri"/>
                        </a:rPr>
                        <a:t>Apple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1295C"/>
                          </a:solidFill>
                          <a:latin typeface="Calibri"/>
                        </a:rPr>
                        <a:t>40,5%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95C"/>
                          </a:solidFill>
                          <a:latin typeface="Calibri"/>
                        </a:rPr>
                        <a:t>Zilver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1295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95C"/>
                          </a:solidFill>
                          <a:latin typeface="Calibri"/>
                        </a:rPr>
                        <a:t>Shell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1295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629400" y="4754880"/>
            <a:ext cx="5212080" cy="548640"/>
          </a:xfrm>
          <a:prstGeom prst="rect">
            <a:avLst/>
          </a:prstGeom>
          <a:solidFill>
            <a:srgbClr val="EF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754880"/>
            <a:ext cx="5212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21295C"/>
                </a:solidFill>
                <a:latin typeface="Calibri"/>
              </a:rPr>
              <a:t>Rendement 13%   ·   risico 13%   ·   Sharpe 0,78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200" b="1">
                <a:solidFill>
                  <a:srgbClr val="1E2761"/>
                </a:solidFill>
                <a:latin typeface="Georgia"/>
              </a:rPr>
              <a:t>Marktportfolio — hoogste Sharpe-ratio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194560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02C39A"/>
                </a:solidFill>
                <a:latin typeface="Calibri"/>
              </a:rPr>
              <a:t>Belangrijkste gewichten (van 20 variabelen)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194560"/>
          <a:ext cx="493775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1411"/>
                <a:gridCol w="1876348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Gewicht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95C"/>
                          </a:solidFill>
                          <a:latin typeface="Calibri"/>
                        </a:rPr>
                        <a:t>Coffee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1295C"/>
                          </a:solidFill>
                          <a:latin typeface="Calibri"/>
                        </a:rPr>
                        <a:t>37,0%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95C"/>
                          </a:solidFill>
                          <a:latin typeface="Calibri"/>
                        </a:rPr>
                        <a:t>Goud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1295C"/>
                          </a:solidFill>
                          <a:latin typeface="Calibri"/>
                        </a:rPr>
                        <a:t>19,2%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95C"/>
                          </a:solidFill>
                          <a:latin typeface="Calibri"/>
                        </a:rPr>
                        <a:t>Gasoline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1295C"/>
                          </a:solidFill>
                          <a:latin typeface="Calibri"/>
                        </a:rPr>
                        <a:t>10,5%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95C"/>
                          </a:solidFill>
                          <a:latin typeface="Calibri"/>
                        </a:rPr>
                        <a:t>Copper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1295C"/>
                          </a:solidFill>
                          <a:latin typeface="Calibri"/>
                        </a:rPr>
                        <a:t>9,3%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95C"/>
                          </a:solidFill>
                          <a:latin typeface="Calibri"/>
                        </a:rPr>
                        <a:t>Broadcom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1295C"/>
                          </a:solidFill>
                          <a:latin typeface="Calibri"/>
                        </a:rPr>
                        <a:t>6,8%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95C"/>
                          </a:solidFill>
                          <a:latin typeface="Calibri"/>
                        </a:rPr>
                        <a:t>Apple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1295C"/>
                          </a:solidFill>
                          <a:latin typeface="Calibri"/>
                        </a:rPr>
                        <a:t>6,7%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95C"/>
                          </a:solidFill>
                          <a:latin typeface="Calibri"/>
                        </a:rPr>
                        <a:t>Steel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1295C"/>
                          </a:solidFill>
                          <a:latin typeface="Calibri"/>
                        </a:rPr>
                        <a:t>5,0%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95C"/>
                          </a:solidFill>
                          <a:latin typeface="Calibri"/>
                        </a:rPr>
                        <a:t>Bitcoin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1295C"/>
                          </a:solidFill>
                          <a:latin typeface="Calibri"/>
                        </a:rPr>
                        <a:t>4,0%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92240" y="2194560"/>
            <a:ext cx="4846320" cy="3291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2468880"/>
            <a:ext cx="4206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000" b="1">
                <a:solidFill>
                  <a:srgbClr val="02C39A"/>
                </a:solidFill>
                <a:latin typeface="Calibri"/>
              </a:rPr>
              <a:t>Resultaat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Rendement:   9,1%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Risico (std):   6,0%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Sharpe-ratio:   1,10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Macro-indicatoren krijgen ~0%: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ze voegen geen rendement per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eenheid risico toe.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822960"/>
            <a:ext cx="274320" cy="27432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Georgia"/>
              </a:rPr>
              <a:t>Eindconclusie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6070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800" b="0">
                <a:solidFill>
                  <a:srgbClr val="CADCFC"/>
                </a:solidFill>
                <a:latin typeface="Calibri"/>
              </a:rPr>
              <a:t>Met regressie, tijdreeks- en sentimentanalyse vonden we duidelijke, vaak significante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800" b="0">
                <a:solidFill>
                  <a:srgbClr val="CADCFC"/>
                </a:solidFill>
                <a:latin typeface="Calibri"/>
              </a:rPr>
              <a:t>verbanden tussen macro-economische factoren en de koersen in onze portfolio.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800" b="0">
                <a:solidFill>
                  <a:srgbClr val="CADCFC"/>
                </a:solidFill>
                <a:latin typeface="Calibri"/>
              </a:rPr>
              <a:t>Het neurale netwerk voorspelt de Apple-koers sterk (R² ≈ 0,98), terwijl nieuws-sentiment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800" b="0">
                <a:solidFill>
                  <a:srgbClr val="CADCFC"/>
                </a:solidFill>
                <a:latin typeface="Calibri"/>
              </a:rPr>
              <a:t>geen significant koerseffect liet zien.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800" b="0">
                <a:solidFill>
                  <a:srgbClr val="CADCFC"/>
                </a:solidFill>
                <a:latin typeface="Calibri"/>
              </a:rPr>
              <a:t>De Markowitz-optimalisatie leverde een marktportfolio op met de hoogste Sharpe-ratio (1,10):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800" b="0">
                <a:solidFill>
                  <a:srgbClr val="CADCFC"/>
                </a:solidFill>
                <a:latin typeface="Calibri"/>
              </a:rPr>
              <a:t>het beste rendement per eenheid risico binnen onze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