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280160"/>
            <a:ext cx="320040" cy="3200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Werkplaats 2 — Eindpresentatie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114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Groep 3  ·  Data-analyse van een beleggingsportfolio en macro-economische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000" b="1">
                <a:solidFill>
                  <a:srgbClr val="1E2761"/>
                </a:solidFill>
                <a:latin typeface="Georgia"/>
              </a:rPr>
              <a:t>Onze data &amp; aanpak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800" b="0">
                <a:solidFill>
                  <a:srgbClr val="21295C"/>
                </a:solidFill>
                <a:latin typeface="Calibri"/>
              </a:rPr>
              <a:t>We hebben 20 producten en indicatoren verzameld over de periode dec 2015 – mei 2026.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•  Aandelen, crypto en obligaties via Yahoo Finance (o.a. Apple, ASML, Broadcom, Shell, Bitcoin).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•  Grondstoffen via Yahoo Finance en FRED (goud, olie, koper, graan, koffie, gas).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•  Macro-economische indicatoren via de FED St. Louis (GDP, inkomen, inflatie, rente, werkloosheid).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Op deze data passen we regressie, tijdreeksanalyse, sentimentanalyse, machine learning en</a:t>
            </a:r>
          </a:p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portfolio-optimalisatie toe om verbanden te onderzoeken en een optimale portefeuille samen te stellen.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Relevante data geselecteerd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Correlatie-heatmap gemaakt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(GDP × Income × Coffee)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Wat is het verband tussen GDP, persoonlijk inkomen en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GDP +0,0160  ·  Income −0,0064  ·  R² = 0,80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matige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Door onderlinge samenhang van de X-variabelen is geen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zuivere oorzaak-gevolg-conclusie te trekken.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(Broadcom × Coffee)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Wat is het verband van Broadcom op de koffieprijs?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Broadcom +0,5205  ·  R² = 0,94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Statistisch sterk verband, maar inhoudelijk niet logisch.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Waarschijnlijk schijncorrelatie: beide stijgen over de tijd.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Geen betekenisvolle conclusie.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(Copper × ASML)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Enkelvoudige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Hoeveel invloed heeft de koperprijs op de koers van ASML?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Copper +0,1560  ·  R² = 0,87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Logisch: meer vraag naar chips → ASML stijgt,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en chips gebruiken veel koper → koperprijs stijgt mee.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(Gasoline × Oil × Shell)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Meervoudige regressie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Waarom lijkt er minder verband tussen benzine, olie en de koers van Shell?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Gasoline +11,6507  ·  Oil +0,0891  ·  R² = 0,36  (p &lt; 0,05)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maar slechts matige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Shell reageert niet op de actuele, maar op de verwachte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langetermijnprijs → onderzocht met timeshift.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02C39A"/>
                </a:solidFill>
                <a:latin typeface="Calibri"/>
              </a:rPr>
              <a:t>Onderzoeksvraag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108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CADCFC"/>
                </a:solidFill>
                <a:latin typeface="Calibri"/>
              </a:rPr>
              <a:t>Stappen vooraf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1.  Data geselecteerd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2.  Heatmap bekeken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3.  Bubble chart (4 variabelen)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4.  Regressie + neuraal netwerk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223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Vraag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>
                <a:solidFill>
                  <a:srgbClr val="21295C"/>
                </a:solidFill>
                <a:latin typeface="Calibri"/>
              </a:rPr>
              <a:t>Wat is het verband tussen koffie, koper, goud en de koers van Apple?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65176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Resultaat regressie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Coffee +0,7351  ·  Copper +0,0236  ·  Gold −0,0097  ·  R² = 0,88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393192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2C39A"/>
                </a:solidFill>
                <a:latin typeface="Calibri"/>
              </a:rPr>
              <a:t>Conclusie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72237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Significant en sterke correlatie.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Hoogconjunctuur drijft Apple en koper omhoog;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alibri"/>
              </a:rPr>
              <a:t>goud reageert juist zwakker (veilige haven).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600" b="1">
                <a:solidFill>
                  <a:srgbClr val="1E2761"/>
                </a:solidFill>
                <a:latin typeface="Georgia"/>
              </a:rPr>
              <a:t>Twee beleggersprofielen — maximale Sharpe-ratio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54480"/>
            <a:ext cx="5303520" cy="640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Jonge student (dynamisch)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5120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21295C"/>
                </a:solidFill>
                <a:latin typeface="Consolas"/>
              </a:rPr>
              <a:t>Broadcom        37,5%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21295C"/>
                </a:solidFill>
                <a:latin typeface="Consolas"/>
              </a:rPr>
              <a:t>Bitcoin         23,5%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21295C"/>
                </a:solidFill>
                <a:latin typeface="Consolas"/>
              </a:rPr>
              <a:t>Apple           36,0%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21295C"/>
                </a:solidFill>
                <a:latin typeface="Consolas"/>
              </a:rPr>
              <a:t>ASML            3,0%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500" b="1">
                <a:solidFill>
                  <a:srgbClr val="02C39A"/>
                </a:solidFill>
                <a:latin typeface="Calibri"/>
              </a:rPr>
              <a:t>Rendement 24%  ·  risico 25%  ·  Sharpe 0,85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554480"/>
            <a:ext cx="5303520" cy="64008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27632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Oude docent (defensief)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377440"/>
            <a:ext cx="5120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21295C"/>
                </a:solidFill>
                <a:latin typeface="Consolas"/>
              </a:rPr>
              <a:t>Goud            59,5%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21295C"/>
                </a:solidFill>
                <a:latin typeface="Consolas"/>
              </a:rPr>
              <a:t>Apple           40,5%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21295C"/>
                </a:solidFill>
                <a:latin typeface="Consolas"/>
              </a:rPr>
              <a:t>Zilver          0%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21295C"/>
                </a:solidFill>
                <a:latin typeface="Consolas"/>
              </a:rPr>
              <a:t>Shell           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66928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500" b="1">
                <a:solidFill>
                  <a:srgbClr val="02C39A"/>
                </a:solidFill>
                <a:latin typeface="Calibri"/>
              </a:rPr>
              <a:t>Rendement 13%  ·  risico 13%  ·  Sharpe 0,78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1E2761"/>
                </a:solidFill>
                <a:latin typeface="Georgia"/>
              </a:rPr>
              <a:t>Marktportfolio — hoogste Sharpe-ratio (alle 20 variabelen)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>
                <a:solidFill>
                  <a:srgbClr val="02C39A"/>
                </a:solidFill>
                <a:latin typeface="Calibri"/>
              </a:rPr>
              <a:t>Belangrijkste gewichten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51206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onsolas"/>
              </a:rPr>
              <a:t>Coffee        37,0%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onsolas"/>
              </a:rPr>
              <a:t>Goud          19,2%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onsolas"/>
              </a:rPr>
              <a:t>Gasoline      10,5%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onsolas"/>
              </a:rPr>
              <a:t>Copper        9,3%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onsolas"/>
              </a:rPr>
              <a:t>Broadcom      6,8%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onsolas"/>
              </a:rPr>
              <a:t>Apple         6,7%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onsolas"/>
              </a:rPr>
              <a:t>Steel         5,0%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 b="0">
                <a:solidFill>
                  <a:srgbClr val="21295C"/>
                </a:solidFill>
                <a:latin typeface="Consolas"/>
              </a:rPr>
              <a:t>Bitcoin       4,0%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2194560"/>
            <a:ext cx="4937760" cy="237744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46888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800" b="1">
                <a:solidFill>
                  <a:srgbClr val="02C39A"/>
                </a:solidFill>
                <a:latin typeface="Calibri"/>
              </a:rPr>
              <a:t>Resultaat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Rendement:  9,1%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Risico (std):  6,0%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Sharpe-ratio:  1,10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Macro-indicatoren krijgen ~0%: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ze voegen geen rendement per risico toe.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822960"/>
            <a:ext cx="274320" cy="2743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Georgia"/>
              </a:rPr>
              <a:t>Eindconclusie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6070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Door regressie, tijdreeks- en sentimentanalyse vonden we duidelijke, vaak significante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verbanden tussen macro-economische factoren en de koersen in onze portfolio.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Het neurale netwerk voorspelt de Apple-koers sterk (R² ≈ 0,98), terwijl nieuws-sentiment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géén significant koerseffect liet zien.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Tot slot leverde de Markowitz-optimalisatie een portefeuille met de hoogste Sharpe-ratio: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het beste rendement per eenheid risico binnen onze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