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" y="1280160"/>
            <a:ext cx="320040" cy="320040"/>
          </a:xfrm>
          <a:prstGeom prst="ellipse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10515600" cy="201168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800" b="1">
                <a:solidFill>
                  <a:srgbClr val="FFFFFF"/>
                </a:solidFill>
                <a:latin typeface="Georgia"/>
              </a:rPr>
              <a:t>Werkplaats 2 — Eindpresentatie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840480"/>
            <a:ext cx="10515600" cy="1371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0">
                <a:solidFill>
                  <a:srgbClr val="CADCFC"/>
                </a:solidFill>
                <a:latin typeface="Calibri"/>
              </a:rPr>
              <a:t>Groep 3  ·  Data-analyse van een beleggingsportfolio en macro-economische data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40080"/>
            <a:ext cx="10515600" cy="9144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1E2761"/>
                </a:solidFill>
                <a:latin typeface="Georgia"/>
              </a:rPr>
              <a:t>Onze data &amp; aanpak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28800"/>
            <a:ext cx="10515600" cy="438912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>
                <a:solidFill>
                  <a:srgbClr val="21295C"/>
                </a:solidFill>
                <a:latin typeface="Calibri"/>
              </a:rPr>
              <a:t>We hebben 20 producten en indicatoren verzameld over de periode dec 2015 – mei 2026.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21295C"/>
                </a:solidFill>
                <a:latin typeface="Calibri"/>
              </a:rPr>
              <a:t>•  Aandelen, crypto en obligaties via Yahoo Finance (o.a. Apple, ASML, Broadcom, Shell, Bitcoin).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21295C"/>
                </a:solidFill>
                <a:latin typeface="Calibri"/>
              </a:rPr>
              <a:t>•  Grondstoffen via Yahoo Finance en FRED (goud, olie, koper, graan, koffie, gas).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21295C"/>
                </a:solidFill>
                <a:latin typeface="Calibri"/>
              </a:rPr>
              <a:t>•  Macro-economische indicatoren via de FED St. Louis (GDP, inkomen, inflatie, rente, werkloosheid).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21295C"/>
                </a:solidFill>
                <a:latin typeface="Calibri"/>
              </a:rPr>
              <a:t>Op deze data passen we regressie, tijdreeksanalyse, sentimentanalyse, machine learning en</a:t>
            </a:r>
          </a:p>
          <a:p>
            <a:pPr algn="l">
              <a:lnSpc>
                <a:spcPct val="140000"/>
              </a:lnSpc>
            </a:pPr>
            <a:r>
              <a:rPr sz="1700" b="0">
                <a:solidFill>
                  <a:srgbClr val="21295C"/>
                </a:solidFill>
                <a:latin typeface="Calibri"/>
              </a:rPr>
              <a:t>portfolio-optimalisatie toe om verbanden te onderzoeken en een optimale portefeuille samen te stellen.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48640" y="640080"/>
            <a:ext cx="256032" cy="256032"/>
          </a:xfrm>
          <a:prstGeom prst="ellipse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2926080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2C39A"/>
                </a:solidFill>
                <a:latin typeface="Calibri"/>
              </a:rPr>
              <a:t>Lesweek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3017520" cy="4114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>
                <a:solidFill>
                  <a:srgbClr val="FFFFFF"/>
                </a:solidFill>
                <a:latin typeface="Georgia"/>
              </a:rPr>
              <a:t>Portfolio &amp; data inladen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822960"/>
            <a:ext cx="7132320" cy="12801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2C39A"/>
                </a:solidFill>
                <a:latin typeface="Calibri"/>
              </a:rPr>
              <a:t>Onderzoeksvraag / onderwerp</a:t>
            </a:r>
          </a:p>
          <a:p>
            <a:pPr algn="l">
              <a:lnSpc>
                <a:spcPct val="115000"/>
              </a:lnSpc>
            </a:pPr>
            <a:r>
              <a:rPr sz="1700" b="0">
                <a:solidFill>
                  <a:srgbClr val="21295C"/>
                </a:solidFill>
                <a:latin typeface="Calibri"/>
              </a:rPr>
              <a:t>Welke producten en macro-economische data nemen we op en hoe voegen we deze samen tot één dataset?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2468880"/>
            <a:ext cx="7132320" cy="4572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02C39A"/>
                </a:solidFill>
                <a:latin typeface="Calibri"/>
              </a:rPr>
              <a:t>Belangrijkste conclusie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2971800"/>
            <a:ext cx="7223760" cy="32918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21295C"/>
                </a:solidFill>
                <a:latin typeface="Calibri"/>
              </a:rPr>
              <a:t>20 producten/indicatoren ingeladen via Yahoo Finance en FRED.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21295C"/>
                </a:solidFill>
                <a:latin typeface="Calibri"/>
              </a:rPr>
              <a:t>Alle reeksen samengevoegd op datum tot één opgeschoonde dataset.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21295C"/>
                </a:solidFill>
                <a:latin typeface="Calibri"/>
              </a:rPr>
              <a:t>Vormt de basis voor alle vervolganalyses.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48640" y="640080"/>
            <a:ext cx="256032" cy="256032"/>
          </a:xfrm>
          <a:prstGeom prst="ellipse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2926080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2C39A"/>
                </a:solidFill>
                <a:latin typeface="Calibri"/>
              </a:rPr>
              <a:t>Lesweek 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3017520" cy="4114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>
                <a:solidFill>
                  <a:srgbClr val="FFFFFF"/>
                </a:solidFill>
                <a:latin typeface="Georgia"/>
              </a:rPr>
              <a:t>Statistische analyse (.describe)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822960"/>
            <a:ext cx="7132320" cy="12801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2C39A"/>
                </a:solidFill>
                <a:latin typeface="Calibri"/>
              </a:rPr>
              <a:t>Onderzoeksvraag / onderwerp</a:t>
            </a:r>
          </a:p>
          <a:p>
            <a:pPr algn="l">
              <a:lnSpc>
                <a:spcPct val="115000"/>
              </a:lnSpc>
            </a:pPr>
            <a:r>
              <a:rPr sz="1700" b="0">
                <a:solidFill>
                  <a:srgbClr val="21295C"/>
                </a:solidFill>
                <a:latin typeface="Calibri"/>
              </a:rPr>
              <a:t>Wat zijn de statistische kenmerken van de dagelijkse rendementen van de portfolio?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2468880"/>
            <a:ext cx="7132320" cy="4572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02C39A"/>
                </a:solidFill>
                <a:latin typeface="Calibri"/>
              </a:rPr>
              <a:t>Belangrijkste conclusie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2971800"/>
            <a:ext cx="7223760" cy="32918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21295C"/>
                </a:solidFill>
                <a:latin typeface="Calibri"/>
              </a:rPr>
              <a:t>Gemiddelde dagrendementen liggen dicht bij 0, met duidelijke verschillen in spreiding.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21295C"/>
                </a:solidFill>
                <a:latin typeface="Calibri"/>
              </a:rPr>
              <a:t>Grondstoffen en crypto vertonen de hoogste volatiliteit (standaardafwijking).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21295C"/>
                </a:solidFill>
                <a:latin typeface="Calibri"/>
              </a:rPr>
              <a:t>Extreme uitschieters (min/max) wijzen op staartrisico in 2020.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48640" y="640080"/>
            <a:ext cx="256032" cy="256032"/>
          </a:xfrm>
          <a:prstGeom prst="ellipse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2926080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2C39A"/>
                </a:solidFill>
                <a:latin typeface="Calibri"/>
              </a:rPr>
              <a:t>Lesweek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3017520" cy="4114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>
                <a:solidFill>
                  <a:srgbClr val="FFFFFF"/>
                </a:solidFill>
                <a:latin typeface="Georgia"/>
              </a:rPr>
              <a:t>Regressie-analyse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822960"/>
            <a:ext cx="7132320" cy="12801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2C39A"/>
                </a:solidFill>
                <a:latin typeface="Calibri"/>
              </a:rPr>
              <a:t>Onderzoeksvraag / onderwerp</a:t>
            </a:r>
          </a:p>
          <a:p>
            <a:pPr algn="l">
              <a:lnSpc>
                <a:spcPct val="115000"/>
              </a:lnSpc>
            </a:pPr>
            <a:r>
              <a:rPr sz="1700" b="0">
                <a:solidFill>
                  <a:srgbClr val="21295C"/>
                </a:solidFill>
                <a:latin typeface="Calibri"/>
              </a:rPr>
              <a:t>Wat is het verband tussen o.a. GDP, inkomen, Apple, koper en goud op koersen als Coffee en ASML?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2468880"/>
            <a:ext cx="7132320" cy="4572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02C39A"/>
                </a:solidFill>
                <a:latin typeface="Calibri"/>
              </a:rPr>
              <a:t>Belangrijkste conclusie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2971800"/>
            <a:ext cx="7223760" cy="32918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21295C"/>
                </a:solidFill>
                <a:latin typeface="Calibri"/>
              </a:rPr>
              <a:t>Vraag 1: GDP + Income → Coffee is significant (p&lt;0,05), matige correlatie.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21295C"/>
                </a:solidFill>
                <a:latin typeface="Calibri"/>
              </a:rPr>
              <a:t>Bij Apple als verklarende variabele: sterke correlatie (R² &gt; 0,8).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21295C"/>
                </a:solidFill>
                <a:latin typeface="Calibri"/>
              </a:rPr>
              <a:t>Hoogconjunctuur drijft Apple en koper omhoog; goud reageert juist zwakker.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48640" y="640080"/>
            <a:ext cx="256032" cy="256032"/>
          </a:xfrm>
          <a:prstGeom prst="ellipse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2926080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2C39A"/>
                </a:solidFill>
                <a:latin typeface="Calibri"/>
              </a:rPr>
              <a:t>Lesweek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3017520" cy="4114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>
                <a:solidFill>
                  <a:srgbClr val="FFFFFF"/>
                </a:solidFill>
                <a:latin typeface="Georgia"/>
              </a:rPr>
              <a:t>Tijdreeksanalyse (seasonal decompose)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822960"/>
            <a:ext cx="7132320" cy="12801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2C39A"/>
                </a:solidFill>
                <a:latin typeface="Calibri"/>
              </a:rPr>
              <a:t>Onderzoeksvraag / onderwerp</a:t>
            </a:r>
          </a:p>
          <a:p>
            <a:pPr algn="l">
              <a:lnSpc>
                <a:spcPct val="115000"/>
              </a:lnSpc>
            </a:pPr>
            <a:r>
              <a:rPr sz="1700" b="0">
                <a:solidFill>
                  <a:srgbClr val="21295C"/>
                </a:solidFill>
                <a:latin typeface="Calibri"/>
              </a:rPr>
              <a:t>Vertonen Shell, olie en GDP een trend, een seizoenspatroon of een random walk?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2468880"/>
            <a:ext cx="7132320" cy="4572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02C39A"/>
                </a:solidFill>
                <a:latin typeface="Calibri"/>
              </a:rPr>
              <a:t>Belangrijkste conclusie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2971800"/>
            <a:ext cx="7223760" cy="32918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21295C"/>
                </a:solidFill>
                <a:latin typeface="Calibri"/>
              </a:rPr>
              <a:t>Shell en GDP tonen een positieve langetermijntrend.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21295C"/>
                </a:solidFill>
                <a:latin typeface="Calibri"/>
              </a:rPr>
              <a:t>Duidelijk terugkerend seizoenspatroon → geen random walk.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21295C"/>
                </a:solidFill>
                <a:latin typeface="Calibri"/>
              </a:rPr>
              <a:t>Residuen nemen toe vanaf 2020 (hogere volatiliteit/onzekerheid).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48640" y="640080"/>
            <a:ext cx="256032" cy="256032"/>
          </a:xfrm>
          <a:prstGeom prst="ellipse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2926080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2C39A"/>
                </a:solidFill>
                <a:latin typeface="Calibri"/>
              </a:rPr>
              <a:t>Lesweek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3017520" cy="4114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>
                <a:solidFill>
                  <a:srgbClr val="FFFFFF"/>
                </a:solidFill>
                <a:latin typeface="Georgia"/>
              </a:rPr>
              <a:t>Sentimentanalyse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822960"/>
            <a:ext cx="7132320" cy="12801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2C39A"/>
                </a:solidFill>
                <a:latin typeface="Calibri"/>
              </a:rPr>
              <a:t>Onderzoeksvraag / onderwerp</a:t>
            </a:r>
          </a:p>
          <a:p>
            <a:pPr algn="l">
              <a:lnSpc>
                <a:spcPct val="115000"/>
              </a:lnSpc>
            </a:pPr>
            <a:r>
              <a:rPr sz="1700" b="0">
                <a:solidFill>
                  <a:srgbClr val="21295C"/>
                </a:solidFill>
                <a:latin typeface="Calibri"/>
              </a:rPr>
              <a:t>Hangen nieuwsberichten over Shell (SHEL) samen met de aandelenkoers?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2468880"/>
            <a:ext cx="7132320" cy="4572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02C39A"/>
                </a:solidFill>
                <a:latin typeface="Calibri"/>
              </a:rPr>
              <a:t>Belangrijkste conclusie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2971800"/>
            <a:ext cx="7223760" cy="32918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21295C"/>
                </a:solidFill>
                <a:latin typeface="Calibri"/>
              </a:rPr>
              <a:t>Nieuws geanalyseerd met VADER, TextBlob en Hugging Face (DistilBERT).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21295C"/>
                </a:solidFill>
                <a:latin typeface="Calibri"/>
              </a:rPr>
              <a:t>Sentimentscores gekoppeld aan de dagkoers van Shell.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21295C"/>
                </a:solidFill>
                <a:latin typeface="Calibri"/>
              </a:rPr>
              <a:t>Regressie: p-waarde &gt; 0,05 → geen significant verband aangetoond.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48640" y="640080"/>
            <a:ext cx="256032" cy="256032"/>
          </a:xfrm>
          <a:prstGeom prst="ellipse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2926080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2C39A"/>
                </a:solidFill>
                <a:latin typeface="Calibri"/>
              </a:rPr>
              <a:t>Lesweek 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3017520" cy="4114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>
                <a:solidFill>
                  <a:srgbClr val="FFFFFF"/>
                </a:solidFill>
                <a:latin typeface="Georgia"/>
              </a:rPr>
              <a:t>Neuraal netwerk (MLPRegressor)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822960"/>
            <a:ext cx="7132320" cy="12801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2C39A"/>
                </a:solidFill>
                <a:latin typeface="Calibri"/>
              </a:rPr>
              <a:t>Onderzoeksvraag / onderwerp</a:t>
            </a:r>
          </a:p>
          <a:p>
            <a:pPr algn="l">
              <a:lnSpc>
                <a:spcPct val="115000"/>
              </a:lnSpc>
            </a:pPr>
            <a:r>
              <a:rPr sz="1700" b="0">
                <a:solidFill>
                  <a:srgbClr val="21295C"/>
                </a:solidFill>
                <a:latin typeface="Calibri"/>
              </a:rPr>
              <a:t>Kan een neuraal netwerk de Apple-koers voorspellen uit Coffee, Copper en Gold?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2468880"/>
            <a:ext cx="7132320" cy="4572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02C39A"/>
                </a:solidFill>
                <a:latin typeface="Calibri"/>
              </a:rPr>
              <a:t>Belangrijkste conclusie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2971800"/>
            <a:ext cx="7223760" cy="32918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21295C"/>
                </a:solidFill>
                <a:latin typeface="Calibri"/>
              </a:rPr>
              <a:t>MLPRegressor met 3 verborgen lagen (64-64-64).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21295C"/>
                </a:solidFill>
                <a:latin typeface="Calibri"/>
              </a:rPr>
              <a:t>Gemiddelde afwijking ca. $7,85–$10,81.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21295C"/>
                </a:solidFill>
                <a:latin typeface="Calibri"/>
              </a:rPr>
              <a:t>Hoge R² (≈ 0,98): sterk verband tussen de variabelen en de Apple-koers.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48640" y="640080"/>
            <a:ext cx="256032" cy="256032"/>
          </a:xfrm>
          <a:prstGeom prst="ellipse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1097280"/>
            <a:ext cx="2926080" cy="5486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800" b="1">
                <a:solidFill>
                  <a:srgbClr val="02C39A"/>
                </a:solidFill>
                <a:latin typeface="Calibri"/>
              </a:rPr>
              <a:t>Lesweek 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737360"/>
            <a:ext cx="3017520" cy="41148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2800" b="1">
                <a:solidFill>
                  <a:srgbClr val="FFFFFF"/>
                </a:solidFill>
                <a:latin typeface="Georgia"/>
              </a:rPr>
              <a:t>Portfolio-optimalisatie (Markowitz)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80560" y="822960"/>
            <a:ext cx="7132320" cy="128016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2C39A"/>
                </a:solidFill>
                <a:latin typeface="Calibri"/>
              </a:rPr>
              <a:t>Onderzoeksvraag / onderwerp</a:t>
            </a:r>
          </a:p>
          <a:p>
            <a:pPr algn="l">
              <a:lnSpc>
                <a:spcPct val="115000"/>
              </a:lnSpc>
            </a:pPr>
            <a:r>
              <a:rPr sz="1700" b="0">
                <a:solidFill>
                  <a:srgbClr val="21295C"/>
                </a:solidFill>
                <a:latin typeface="Calibri"/>
              </a:rPr>
              <a:t>Hoe stellen we volgens Markowitz een optimale portefeuille samen op rendement én risico?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2468880"/>
            <a:ext cx="7132320" cy="4572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400" b="1">
                <a:solidFill>
                  <a:srgbClr val="02C39A"/>
                </a:solidFill>
                <a:latin typeface="Calibri"/>
              </a:rPr>
              <a:t>Belangrijkste conclusie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80560" y="2971800"/>
            <a:ext cx="7223760" cy="329184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>
                <a:solidFill>
                  <a:srgbClr val="21295C"/>
                </a:solidFill>
                <a:latin typeface="Calibri"/>
              </a:rPr>
              <a:t>Optimale gewichten berekend voor max. Sharpe-ratio en min. variantie.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21295C"/>
                </a:solidFill>
                <a:latin typeface="Calibri"/>
              </a:rPr>
              <a:t>Marktportfolio (rode ster) heeft de hoogste Sharpe-ratio.</a:t>
            </a:r>
          </a:p>
          <a:p>
            <a:pPr algn="l">
              <a:lnSpc>
                <a:spcPct val="125000"/>
              </a:lnSpc>
            </a:pPr>
            <a:r>
              <a:rPr sz="1600" b="0">
                <a:solidFill>
                  <a:srgbClr val="21295C"/>
                </a:solidFill>
                <a:latin typeface="Calibri"/>
              </a:rPr>
              <a:t>Efficiënte grenslijn toont de haalbare combinaties van risico en rendement.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22960" y="822960"/>
            <a:ext cx="274320" cy="274320"/>
          </a:xfrm>
          <a:prstGeom prst="ellipse">
            <a:avLst/>
          </a:prstGeom>
          <a:solidFill>
            <a:srgbClr val="02C3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280160"/>
            <a:ext cx="10515600" cy="9144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b="1">
                <a:solidFill>
                  <a:srgbClr val="FFFFFF"/>
                </a:solidFill>
                <a:latin typeface="Georgia"/>
              </a:rPr>
              <a:t>Eindconclusie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560320"/>
            <a:ext cx="10607040" cy="3657600"/>
          </a:xfrm>
          <a:prstGeom prst="rect">
            <a:avLst/>
          </a:prstGeom>
          <a:noFill/>
        </p:spPr>
        <p:txBody>
          <a:bodyPr wrap="square" anchor="t" lIns="0" r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>
                <a:solidFill>
                  <a:srgbClr val="CADCFC"/>
                </a:solidFill>
                <a:latin typeface="Calibri"/>
              </a:rPr>
              <a:t>Door regressie, tijdreeks- en sentimentanalyse vonden we duidelijke, vaak significante</a:t>
            </a:r>
          </a:p>
          <a:p>
            <a:pPr algn="l">
              <a:lnSpc>
                <a:spcPct val="145000"/>
              </a:lnSpc>
            </a:pPr>
            <a:r>
              <a:rPr sz="1800" b="0">
                <a:solidFill>
                  <a:srgbClr val="CADCFC"/>
                </a:solidFill>
                <a:latin typeface="Calibri"/>
              </a:rPr>
              <a:t>verbanden tussen macro-economische factoren en de koersen in onze portfolio.</a:t>
            </a:r>
          </a:p>
          <a:p>
            <a:pPr algn="l">
              <a:lnSpc>
                <a:spcPct val="145000"/>
              </a:lnSpc>
            </a:pPr>
            <a:r>
              <a:rPr sz="1800" b="0">
                <a:solidFill>
                  <a:srgbClr val="CADCFC"/>
                </a:solidFill>
                <a:latin typeface="Calibri"/>
              </a:rPr>
              <a:t>Het neurale netwerk voorspelt de Apple-koers sterk (R² ≈ 0,98), terwijl nieuws-sentiment</a:t>
            </a:r>
          </a:p>
          <a:p>
            <a:pPr algn="l">
              <a:lnSpc>
                <a:spcPct val="145000"/>
              </a:lnSpc>
            </a:pPr>
            <a:r>
              <a:rPr sz="1800" b="0">
                <a:solidFill>
                  <a:srgbClr val="CADCFC"/>
                </a:solidFill>
                <a:latin typeface="Calibri"/>
              </a:rPr>
              <a:t>géén significant koerseffect liet zien.</a:t>
            </a:r>
          </a:p>
          <a:p>
            <a:pPr algn="l">
              <a:lnSpc>
                <a:spcPct val="145000"/>
              </a:lnSpc>
            </a:pPr>
            <a:r>
              <a:rPr sz="1800" b="0">
                <a:solidFill>
                  <a:srgbClr val="CADCFC"/>
                </a:solidFill>
                <a:latin typeface="Calibri"/>
              </a:rPr>
              <a:t>Tot slot leverde de Markowitz-optimalisatie een portefeuille met de hoogste Sharpe-ratio:</a:t>
            </a:r>
          </a:p>
          <a:p>
            <a:pPr algn="l">
              <a:lnSpc>
                <a:spcPct val="145000"/>
              </a:lnSpc>
            </a:pPr>
            <a:r>
              <a:rPr sz="1800" b="0">
                <a:solidFill>
                  <a:srgbClr val="CADCFC"/>
                </a:solidFill>
                <a:latin typeface="Calibri"/>
              </a:rPr>
              <a:t>het beste rendement per eenheid risico binnen onze dataset.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